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</p:sldMasterIdLst>
  <p:notesMasterIdLst>
    <p:notesMasterId r:id="rId14"/>
  </p:notesMasterIdLst>
  <p:handoutMasterIdLst>
    <p:handoutMasterId r:id="rId15"/>
  </p:handoutMasterIdLst>
  <p:sldIdLst>
    <p:sldId id="259" r:id="rId3"/>
    <p:sldId id="260" r:id="rId4"/>
    <p:sldId id="267" r:id="rId5"/>
    <p:sldId id="272" r:id="rId6"/>
    <p:sldId id="262" r:id="rId7"/>
    <p:sldId id="263" r:id="rId8"/>
    <p:sldId id="266" r:id="rId9"/>
    <p:sldId id="268" r:id="rId10"/>
    <p:sldId id="271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 Glasner" initials="BG" lastIdx="1" clrIdx="0">
    <p:extLst>
      <p:ext uri="{19B8F6BF-5375-455C-9EA6-DF929625EA0E}">
        <p15:presenceInfo xmlns:p15="http://schemas.microsoft.com/office/powerpoint/2012/main" userId="8a84d3f80c969bd0" providerId="Windows Live"/>
      </p:ext>
    </p:extLst>
  </p:cmAuthor>
  <p:cmAuthor id="2" name="Mark C. Long" initials="MCL" lastIdx="9" clrIdx="1">
    <p:extLst>
      <p:ext uri="{19B8F6BF-5375-455C-9EA6-DF929625EA0E}">
        <p15:presenceInfo xmlns:p15="http://schemas.microsoft.com/office/powerpoint/2012/main" userId="S::marklong@uw.edu::110f7d64-b3bf-49db-b837-5b6d35e3b2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0952" autoAdjust="0"/>
  </p:normalViewPr>
  <p:slideViewPr>
    <p:cSldViewPr snapToGrid="0" snapToObjects="1" showGuides="1">
      <p:cViewPr varScale="1">
        <p:scale>
          <a:sx n="113" d="100"/>
          <a:sy n="113" d="100"/>
        </p:scale>
        <p:origin x="2832" y="91"/>
      </p:cViewPr>
      <p:guideLst>
        <p:guide orient="horz" pos="2160"/>
        <p:guide pos="49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1-31T12:13:04.842" idx="1">
    <p:pos x="10" y="10"/>
    <p:text>I would encourage fewer words on this slide.</p:text>
    <p:extLst>
      <p:ext uri="{C676402C-5697-4E1C-873F-D02D1690AC5C}">
        <p15:threadingInfo xmlns:p15="http://schemas.microsoft.com/office/powerpoint/2012/main" timeZoneBias="480"/>
      </p:ext>
    </p:extLst>
  </p:cm>
  <p:cm authorId="2" dt="2020-01-31T12:13:58.017" idx="2">
    <p:pos x="5517" y="2086"/>
    <p:text>These sentences are not clear to me.</p:text>
    <p:extLst>
      <p:ext uri="{C676402C-5697-4E1C-873F-D02D1690AC5C}">
        <p15:threadingInfo xmlns:p15="http://schemas.microsoft.com/office/powerpoint/2012/main" timeZoneBias="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1-31T12:15:13.586" idx="3">
    <p:pos x="3878" y="1118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1-31T12:17:41.332" idx="4">
    <p:pos x="5548" y="584"/>
    <p:text>I would replace colons with X signs in the interaction variables.</p:text>
    <p:extLst>
      <p:ext uri="{C676402C-5697-4E1C-873F-D02D1690AC5C}">
        <p15:threadingInfo xmlns:p15="http://schemas.microsoft.com/office/powerpoint/2012/main" timeZoneBias="480"/>
      </p:ext>
    </p:extLst>
  </p:cm>
  <p:cm authorId="2" dt="2020-01-31T12:18:26.140" idx="5">
    <p:pos x="10" y="10"/>
    <p:text>I would drop column 1 and maybe 2.</p:text>
    <p:extLst>
      <p:ext uri="{C676402C-5697-4E1C-873F-D02D1690AC5C}">
        <p15:threadingInfo xmlns:p15="http://schemas.microsoft.com/office/powerpoint/2012/main" timeZoneBias="480"/>
      </p:ext>
    </p:extLst>
  </p:cm>
  <p:cm authorId="2" dt="2020-01-31T12:19:37.035" idx="6">
    <p:pos x="106" y="106"/>
    <p:text>Really interesting results.</p:text>
    <p:extLst>
      <p:ext uri="{C676402C-5697-4E1C-873F-D02D1690AC5C}">
        <p15:threadingInfo xmlns:p15="http://schemas.microsoft.com/office/powerpoint/2012/main" timeZoneBias="480"/>
      </p:ext>
    </p:extLst>
  </p:cm>
  <p:cm authorId="2" dt="2020-01-31T12:19:55.857" idx="7">
    <p:pos x="202" y="202"/>
    <p:text>I would replace "Medicaid" with "Medicaid Expanded"</p:text>
    <p:extLst>
      <p:ext uri="{C676402C-5697-4E1C-873F-D02D1690AC5C}">
        <p15:threadingInfo xmlns:p15="http://schemas.microsoft.com/office/powerpoint/2012/main" timeZoneBias="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0-01-31T12:22:30.323" idx="8">
    <p:pos x="1148" y="2022"/>
    <p:text>Interactive Fixed Effects</p:text>
    <p:extLst>
      <p:ext uri="{C676402C-5697-4E1C-873F-D02D1690AC5C}">
        <p15:threadingInfo xmlns:p15="http://schemas.microsoft.com/office/powerpoint/2012/main" timeZoneBias="480"/>
      </p:ext>
    </p:extLst>
  </p:cm>
  <p:cm authorId="2" dt="2020-01-31T12:22:52.001" idx="9">
    <p:pos x="1766" y="1677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7F090-023D-4E2E-A7C4-D7CA5CF87BB3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6616B-5641-4A45-83FE-C01C2B36A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94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948F9-4D32-475A-8907-A2BB00C8C7E4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2F3FF-2308-4431-8CE7-8F7053AF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0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Re-define Medicaid expansion as happening in 2009 for all states that have it happen in 2014, 2015, 2016, and 2017. Repeat the Synthetic control design for years 2000-2013.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2F3FF-2308-4431-8CE7-8F7053AF5C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99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Re-define Medicaid expansion as happening in 2009 for all states that have it happen in 2014, 2015, 2016, and 2017. Repeat the Synthetic control design for years 2000-2013.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2F3FF-2308-4431-8CE7-8F7053AF5C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5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W_W Logo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08680"/>
            <a:ext cx="1371600" cy="923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039" y="4613080"/>
            <a:ext cx="1390696" cy="121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1842045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</p:spTree>
    <p:extLst>
      <p:ext uri="{BB962C8B-B14F-4D97-AF65-F5344CB8AC3E}">
        <p14:creationId xmlns:p14="http://schemas.microsoft.com/office/powerpoint/2010/main" val="2373491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chemeClr val="tx1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095" y="1425024"/>
            <a:ext cx="862709" cy="689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095" y="1425024"/>
            <a:ext cx="862709" cy="689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71511"/>
            <a:ext cx="7963088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23633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chemeClr val="tx2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095" y="1425024"/>
            <a:ext cx="862709" cy="689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7" name="Picture 6" descr="W Logo_Purple_2685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378987"/>
            <a:ext cx="1371600" cy="9235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9463" y="4587525"/>
            <a:ext cx="1390696" cy="12141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71757" y="1880379"/>
            <a:ext cx="6972300" cy="2646441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solidFill>
                  <a:srgbClr val="4B2E83"/>
                </a:solidFill>
                <a:latin typeface="+mj-lt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E0D58-2A2A-4442-833A-3593AA6CA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+mn-lt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+mn-lt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+mn-lt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+mn-lt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+mn-lt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LIGHT, 24 PT.)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462" y="1426989"/>
            <a:ext cx="862711" cy="689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+mn-lt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3AB3A5-23C5-4913-A8C2-ED525AEB2A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196210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+mn-lt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+mn-lt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+mn-lt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+mn-lt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462" y="1426989"/>
            <a:ext cx="862711" cy="689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3759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+mn-lt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FFFB61-98AB-4315-8716-C1384B4B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4B2E83"/>
                </a:solidFill>
                <a:latin typeface="+mn-lt"/>
                <a:cs typeface="Open Sans Light"/>
              </a:defRPr>
            </a:lvl1pPr>
          </a:lstStyle>
          <a:p>
            <a:r>
              <a:rPr lang="en-US" dirty="0"/>
              <a:t>Graphic Here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462" y="1426989"/>
            <a:ext cx="862711" cy="689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81575"/>
            <a:ext cx="811664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+mn-lt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698546-93B6-441F-9A2D-2CBE936453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 Logo_Purple_2685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378987"/>
            <a:ext cx="1371600" cy="923544"/>
          </a:xfrm>
          <a:prstGeom prst="rect">
            <a:avLst/>
          </a:prstGeom>
        </p:spPr>
      </p:pic>
      <p:pic>
        <p:nvPicPr>
          <p:cNvPr id="4" name="Picture 3" descr="Wordmark_center_Purp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HEX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4619072"/>
            <a:ext cx="1371600" cy="1245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1837360"/>
            <a:ext cx="6972300" cy="2646441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08A99-B252-45A8-A4EF-9FE69B556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rgbClr val="4B2E83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LIGHT, 24 PT.)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9" name="Picture 8" descr="Bar_RtAng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71511"/>
            <a:ext cx="8184662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086E8C-5683-411D-85EB-232349422F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4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1736725"/>
            <a:ext cx="8076956" cy="4015497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4B2E83"/>
                </a:solidFill>
                <a:latin typeface="+mn-lt"/>
                <a:cs typeface="Open Sans"/>
              </a:defRPr>
            </a:lvl1pPr>
            <a:lvl2pPr>
              <a:defRPr sz="2000" b="1" i="0" baseline="0">
                <a:solidFill>
                  <a:srgbClr val="4B2E83"/>
                </a:solidFill>
                <a:latin typeface="+mn-lt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4B2E83"/>
                </a:solidFill>
                <a:latin typeface="+mn-lt"/>
                <a:cs typeface="Open Sans"/>
              </a:defRPr>
            </a:lvl3pPr>
            <a:lvl4pPr>
              <a:defRPr sz="1600" b="1" i="0" baseline="0">
                <a:solidFill>
                  <a:srgbClr val="4B2E83"/>
                </a:solidFill>
                <a:latin typeface="+mn-lt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4B2E83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 dirty="0"/>
              <a:t>Bulleted 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7" name="Picture 6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8" name="Picture 7" descr="Bar_RtAng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7" y="371511"/>
            <a:ext cx="8064504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CA4B8D-3D2B-4C0A-849A-683E0419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22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766763" y="1736725"/>
            <a:ext cx="8021637" cy="44323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4B2E83"/>
                </a:solidFill>
                <a:latin typeface="+mn-lt"/>
                <a:cs typeface="Open Sans Light"/>
              </a:defRPr>
            </a:lvl1pPr>
          </a:lstStyle>
          <a:p>
            <a:r>
              <a:rPr lang="en-US" dirty="0"/>
              <a:t>Graphic Here</a:t>
            </a:r>
          </a:p>
        </p:txBody>
      </p:sp>
      <p:pic>
        <p:nvPicPr>
          <p:cNvPr id="8" name="Picture 7" descr="Wordmark_center_Purple_HEX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9" y="6532177"/>
            <a:ext cx="2425295" cy="163374"/>
          </a:xfrm>
          <a:prstGeom prst="rect">
            <a:avLst/>
          </a:prstGeom>
        </p:spPr>
      </p:pic>
      <p:pic>
        <p:nvPicPr>
          <p:cNvPr id="6" name="Picture 5" descr="Bar_RtAngle_HEX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402894"/>
            <a:ext cx="1371201" cy="69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1664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D13B8-D581-43CD-A663-DF4DF827C8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47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59305" y="2320239"/>
            <a:ext cx="8197114" cy="3810086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rgbClr val="FFFFFF"/>
                </a:solidFill>
                <a:latin typeface="Open Sans"/>
                <a:cs typeface="Open Sans"/>
              </a:defRPr>
            </a:lvl1pPr>
            <a:lvl2pPr>
              <a:defRPr sz="2000" b="1" i="0" baseline="0">
                <a:solidFill>
                  <a:srgbClr val="FFFFFF"/>
                </a:solidFill>
                <a:latin typeface="Open Sans"/>
                <a:cs typeface="Open Sans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rgbClr val="FFFFFF"/>
                </a:solidFill>
                <a:latin typeface="Open Sans"/>
                <a:cs typeface="Open Sans"/>
              </a:defRPr>
            </a:lvl3pPr>
            <a:lvl4pPr>
              <a:defRPr sz="1600" b="1" i="0" baseline="0">
                <a:solidFill>
                  <a:srgbClr val="FFFFFF"/>
                </a:solidFill>
                <a:latin typeface="Open Sans"/>
                <a:cs typeface="Open Sans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rgbClr val="FFFFFF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71757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chemeClr val="tx1"/>
                </a:solidFill>
                <a:latin typeface="Uni Sans Regular"/>
                <a:cs typeface="Uni Sans Regular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7334" y="6354234"/>
            <a:ext cx="25400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095" y="1425024"/>
            <a:ext cx="862709" cy="689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756" y="371511"/>
            <a:ext cx="8184663" cy="991998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1C45F-595F-4499-919B-2881F90E82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chemeClr val="accent3"/>
            </a:gs>
            <a:gs pos="72000">
              <a:srgbClr val="4B2E83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F496D8-5AB8-4CBA-A105-E37EA8036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D586F-6CA7-4509-A3D6-A988174F5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3" r:id="rId2"/>
    <p:sldLayoutId id="2147483664" r:id="rId3"/>
    <p:sldLayoutId id="2147483665" r:id="rId4"/>
    <p:sldLayoutId id="2147483666" r:id="rId5"/>
    <p:sldLayoutId id="2147483655" r:id="rId6"/>
    <p:sldLayoutId id="2147483656" r:id="rId7"/>
    <p:sldLayoutId id="2147483657" r:id="rId8"/>
    <p:sldLayoutId id="2147483679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756" y="1837360"/>
            <a:ext cx="8472243" cy="2646441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Medicaid Results and Hypothesis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15C3FE-B43E-4743-A81A-4C0E59308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7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2C5FF4-ADF1-4914-AFFF-D42C593AB5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Job Lock Effect: the tendency for workers to feel they cannot leave a job due to the loss in benefits incurred by leaving.</a:t>
            </a:r>
          </a:p>
          <a:p>
            <a:r>
              <a:rPr lang="en-US" dirty="0"/>
              <a:t>Employment Lock Effect: workers who are employed primarily to secure private health insurance coverage</a:t>
            </a:r>
          </a:p>
          <a:p>
            <a:r>
              <a:rPr lang="en-US" dirty="0"/>
              <a:t>Selective Reporting: Individuals in high-knowledge areas change wage earnings sharply to obtain larger EITC refunds relative to those in low-knowledge areas. Does the expansion of Medicaid result in behavioral shifts among self-employment earnings reporting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735CAB-F5CA-4C60-95DE-945D2D75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Literature/Hypothesis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8B221-A873-4AE9-8CC6-F705E89C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8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1B7575-11F8-41FD-8EDA-6FCD2C86A1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H1: Job lock effect, more individuals can engage in self-employment with less reliance on employer supplied health insurance</a:t>
            </a:r>
          </a:p>
          <a:p>
            <a:r>
              <a:rPr lang="en-US" dirty="0"/>
              <a:t>H2: Employment lock effect, fewer people will engage in self-employment as they no longer require the work to afford health care costs</a:t>
            </a:r>
          </a:p>
          <a:p>
            <a:r>
              <a:rPr lang="en-US" dirty="0"/>
              <a:t>H3: Selective reporting, The expansion in Medicaid may lead a new group of people to evade reporting on self-employment income to qualify for Medicaid’s cut-off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BAB999-EFEC-4511-AFB9-3850F1F1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42DB-1812-4D7A-BFBA-F3E6FEF4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9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35090-9C00-4D1F-AE05-459D7E52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C7C65-FB76-4411-8D25-0D170ED7D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78" y="926835"/>
            <a:ext cx="8472244" cy="500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3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50233D8E-BF01-4AE2-83D5-0345BA1CF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590145"/>
              </p:ext>
            </p:extLst>
          </p:nvPr>
        </p:nvGraphicFramePr>
        <p:xfrm>
          <a:off x="778163" y="1594772"/>
          <a:ext cx="7783944" cy="428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229">
                  <a:extLst>
                    <a:ext uri="{9D8B030D-6E8A-4147-A177-3AD203B41FA5}">
                      <a16:colId xmlns:a16="http://schemas.microsoft.com/office/drawing/2014/main" val="4152270377"/>
                    </a:ext>
                  </a:extLst>
                </a:gridCol>
                <a:gridCol w="1036919">
                  <a:extLst>
                    <a:ext uri="{9D8B030D-6E8A-4147-A177-3AD203B41FA5}">
                      <a16:colId xmlns:a16="http://schemas.microsoft.com/office/drawing/2014/main" val="1795737070"/>
                    </a:ext>
                  </a:extLst>
                </a:gridCol>
                <a:gridCol w="1759398">
                  <a:extLst>
                    <a:ext uri="{9D8B030D-6E8A-4147-A177-3AD203B41FA5}">
                      <a16:colId xmlns:a16="http://schemas.microsoft.com/office/drawing/2014/main" val="623038128"/>
                    </a:ext>
                  </a:extLst>
                </a:gridCol>
                <a:gridCol w="1759398">
                  <a:extLst>
                    <a:ext uri="{9D8B030D-6E8A-4147-A177-3AD203B41FA5}">
                      <a16:colId xmlns:a16="http://schemas.microsoft.com/office/drawing/2014/main" val="3196353738"/>
                    </a:ext>
                  </a:extLst>
                </a:gridCol>
              </a:tblGrid>
              <a:tr h="446680">
                <a:tc gridSpan="4">
                  <a:txBody>
                    <a:bodyPr/>
                    <a:lstStyle/>
                    <a:p>
                      <a:r>
                        <a:rPr lang="en-US" dirty="0"/>
                        <a:t>Dependent Variable: Establishments Per Person</a:t>
                      </a:r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636122"/>
                  </a:ext>
                </a:extLst>
              </a:tr>
              <a:tr h="507984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Level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Coef.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968632"/>
                  </a:ext>
                </a:extLst>
              </a:tr>
              <a:tr h="507984">
                <a:tc>
                  <a:txBody>
                    <a:bodyPr/>
                    <a:lstStyle/>
                    <a:p>
                      <a:r>
                        <a:rPr lang="en-US" dirty="0"/>
                        <a:t>Two-way Fixed Effect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County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-0.00025***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0.00009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210665"/>
                  </a:ext>
                </a:extLst>
              </a:tr>
              <a:tr h="586747">
                <a:tc>
                  <a:txBody>
                    <a:bodyPr/>
                    <a:lstStyle/>
                    <a:p>
                      <a:r>
                        <a:rPr lang="en-US" dirty="0"/>
                        <a:t>Interacted Fixed Effect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County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-0.0029***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0.0002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178817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r>
                        <a:rPr lang="en-US" dirty="0"/>
                        <a:t>Synthetic Control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County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-0.0045***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0.0011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959657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748300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r>
                        <a:rPr lang="en-US" dirty="0"/>
                        <a:t>Two-way Fixed Effect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-0.0051</a:t>
                      </a:r>
                      <a:r>
                        <a:rPr lang="en-US" dirty="0">
                          <a:effectLst/>
                        </a:rPr>
                        <a:t>***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0.0011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571574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r>
                        <a:rPr lang="en-US" dirty="0"/>
                        <a:t>Interacted Fixed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-0.00097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0.00096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033599"/>
                  </a:ext>
                </a:extLst>
              </a:tr>
              <a:tr h="446680">
                <a:tc>
                  <a:txBody>
                    <a:bodyPr/>
                    <a:lstStyle/>
                    <a:p>
                      <a:r>
                        <a:rPr lang="en-US" dirty="0"/>
                        <a:t>Synthetic Control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State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-0.0016***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0.00046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03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20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1F21D6F-EB27-4F26-B7CE-E770889AF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902808"/>
              </p:ext>
            </p:extLst>
          </p:nvPr>
        </p:nvGraphicFramePr>
        <p:xfrm>
          <a:off x="1324169" y="1363509"/>
          <a:ext cx="6495662" cy="487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Acrobat Document" r:id="rId3" imgW="5486400" imgH="4114800" progId="AcroExch.Document.DC">
                  <p:embed/>
                </p:oleObj>
              </mc:Choice>
              <mc:Fallback>
                <p:oleObj name="Acrobat Document" r:id="rId3" imgW="5486400" imgH="41148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169" y="1363509"/>
                        <a:ext cx="6495662" cy="487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122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C444834-884C-40FD-A1C0-72EC4C9F9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826005"/>
              </p:ext>
            </p:extLst>
          </p:nvPr>
        </p:nvGraphicFramePr>
        <p:xfrm>
          <a:off x="1397086" y="1529773"/>
          <a:ext cx="6349827" cy="4762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Acrobat Document" r:id="rId3" imgW="5486400" imgH="4114800" progId="AcroExch.Document.DC">
                  <p:embed/>
                </p:oleObj>
              </mc:Choice>
              <mc:Fallback>
                <p:oleObj name="Acrobat Document" r:id="rId3" imgW="5486400" imgH="41148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97086" y="1529773"/>
                        <a:ext cx="6349827" cy="4762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029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3EDD8BD-FC05-4CA6-A7DD-A3AB9F2E4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296423"/>
              </p:ext>
            </p:extLst>
          </p:nvPr>
        </p:nvGraphicFramePr>
        <p:xfrm>
          <a:off x="1324169" y="1492319"/>
          <a:ext cx="6495662" cy="487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Acrobat Document" r:id="rId3" imgW="5486400" imgH="4114800" progId="AcroExch.Document.DC">
                  <p:embed/>
                </p:oleObj>
              </mc:Choice>
              <mc:Fallback>
                <p:oleObj name="Acrobat Document" r:id="rId3" imgW="5486400" imgH="41148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4169" y="1492319"/>
                        <a:ext cx="6495662" cy="487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2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35DF621-E959-43D7-8B1E-0FDAF5406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87" y="1547007"/>
          <a:ext cx="6349826" cy="4762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Acrobat Document" r:id="rId3" imgW="5486400" imgH="4114800" progId="AcroExch.Document.DC">
                  <p:embed/>
                </p:oleObj>
              </mc:Choice>
              <mc:Fallback>
                <p:oleObj name="Acrobat Document" r:id="rId3" imgW="5486400" imgH="4114800" progId="AcroExch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35DF621-E959-43D7-8B1E-0FDAF5406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97087" y="1547007"/>
                        <a:ext cx="6349826" cy="4762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3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Pseudo Medicaid (2009):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604D4D2-8DE7-4508-BFA4-D461C5C5A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112549"/>
              </p:ext>
            </p:extLst>
          </p:nvPr>
        </p:nvGraphicFramePr>
        <p:xfrm>
          <a:off x="1360776" y="1567007"/>
          <a:ext cx="6422448" cy="481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Acrobat Document" r:id="rId4" imgW="5486400" imgH="4114800" progId="AcroExch.Document.DC">
                  <p:embed/>
                </p:oleObj>
              </mc:Choice>
              <mc:Fallback>
                <p:oleObj name="Acrobat Document" r:id="rId4" imgW="5486400" imgH="41148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0776" y="1567007"/>
                        <a:ext cx="6422448" cy="4816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5391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D0083-DABD-4C06-AE46-FCA22F83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 Pseudo Medicaid (2009):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FFFA0-D667-4B93-BCF9-8EDA04F5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D586F-6CA7-4509-A3D6-A988174F5449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A90B4FF-354B-4256-B514-8EDCA9BDF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875588"/>
              </p:ext>
            </p:extLst>
          </p:nvPr>
        </p:nvGraphicFramePr>
        <p:xfrm>
          <a:off x="1490085" y="1616756"/>
          <a:ext cx="6163829" cy="4622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Acrobat Document" r:id="rId4" imgW="5486400" imgH="4114800" progId="AcroExch.Document.DC">
                  <p:embed/>
                </p:oleObj>
              </mc:Choice>
              <mc:Fallback>
                <p:oleObj name="Acrobat Document" r:id="rId4" imgW="5486400" imgH="411480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0085" y="1616756"/>
                        <a:ext cx="6163829" cy="4622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84157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 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 4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3490</TotalTime>
  <Words>316</Words>
  <Application>Microsoft Office PowerPoint</Application>
  <PresentationFormat>On-screen Show (4:3)</PresentationFormat>
  <Paragraphs>60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Encode Sans Normal Black</vt:lpstr>
      <vt:lpstr>Lucida Grande</vt:lpstr>
      <vt:lpstr>Open Sans</vt:lpstr>
      <vt:lpstr>Open Sans Light</vt:lpstr>
      <vt:lpstr>Uni Sans Regular</vt:lpstr>
      <vt:lpstr>Custom Design</vt:lpstr>
      <vt:lpstr>1_Custom Design</vt:lpstr>
      <vt:lpstr>Acrobat Document</vt:lpstr>
      <vt:lpstr>Medicaid Results and Hypothesis</vt:lpstr>
      <vt:lpstr>Literature/Hypothesis</vt:lpstr>
      <vt:lpstr>Hypothesis</vt:lpstr>
      <vt:lpstr>PowerPoint Presentation</vt:lpstr>
      <vt:lpstr>Results</vt:lpstr>
      <vt:lpstr>Synthetic Control:</vt:lpstr>
      <vt:lpstr>Synthetic Control:</vt:lpstr>
      <vt:lpstr>Synthetic Control:</vt:lpstr>
      <vt:lpstr>Synthetic Control:</vt:lpstr>
      <vt:lpstr>Synthetic Control Pseudo Medicaid (2009):</vt:lpstr>
      <vt:lpstr>Synthetic Control Pseudo Medicaid (2009):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lastModifiedBy>Mark C. Long</cp:lastModifiedBy>
  <cp:revision>196</cp:revision>
  <cp:lastPrinted>2019-05-30T16:41:33Z</cp:lastPrinted>
  <dcterms:created xsi:type="dcterms:W3CDTF">2014-10-14T00:51:43Z</dcterms:created>
  <dcterms:modified xsi:type="dcterms:W3CDTF">2020-01-31T20:24:27Z</dcterms:modified>
</cp:coreProperties>
</file>